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49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859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Giới thiệu: đây là bản trình bày định hướng thiết kế UI/UX cho nền tảng CCHC — trực thuộc Tổng hội Y học Việt Nam.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hào = lớp Chính danh. Uy tín Tổng hội không mua được bằng marketing, không startup nào sao chép nổi trong ngắn hạn.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Meta-trust: công khai cả bộ khung 4 lớp để người dùng tin vào chính quy trình tạo ra thông tin.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Năm triết lý rút từ hồ sơ UX; mỗi triết lý đều có bằng chứng định lượng đi kèm.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Trên desktop, cùng IA mở rộng thành header hai tầng + mega-menu 7 nhánh — không phải cấu trúc khác.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73% người Việt không phân biệt được tin y tế đúng/sai (UNICEF 2021) — nên chính danh phải hiển thị sớm.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Chuẩn bắt buộc cho mọi template bài viết trên toàn hệ thống CCHC.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Bốn trụ cột đặt ở grid 2×2 vừa vặn vùng ngón cái trên điện thoại.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điểm khách hàng thường hỏi: vì sao chọn xanh. Xanh là quy ước của ngành y tế + phát tín hiệu thẩm quyền.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Vòng lặp giá trị: Chuyên gia → Tri thức → Cộng đồng → thu hút thêm chuyên gia.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Kết: thiết kế phục vụ một mục tiêu — chuyển uy tín thể chế thành niềm tin của người dùng, và niềm tin thành giá trị.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9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120640" cy="5120640"/>
          </a:xfrm>
          <a:prstGeom prst="ellipse">
            <a:avLst/>
          </a:prstGeom>
          <a:solidFill>
            <a:srgbClr val="037B96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784080" y="-548640"/>
            <a:ext cx="3291840" cy="3291840"/>
          </a:xfrm>
          <a:prstGeom prst="ellipse">
            <a:avLst/>
          </a:prstGeom>
          <a:solidFill>
            <a:srgbClr val="82E6FD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424160" y="91440"/>
            <a:ext cx="2011680" cy="2011680"/>
          </a:xfrm>
          <a:prstGeom prst="ellipse">
            <a:avLst/>
          </a:prstGeom>
          <a:solidFill>
            <a:srgbClr val="82E6FD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82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THIẾT KẾ UI/UX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3504" y="1965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Nền tảng CCHC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03504" y="28803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82E6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Thiết kế Trải nghiệm Người dùng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3977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tâm Truyền thông &amp; Chăm sóc Sức khỏe Cộng đồng  ·  Tổng hội Y học Việt Nam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846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C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 ·  Kiến trúc Thông tin (O’Reilly)  ·  Chiến lược “4 Lớp nang”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129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Định vị chiến lược &amp; Con hào cạnh tranh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12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“làm chính trị”.  </a:t>
            </a:r>
            <a:r>
              <a:rPr lang="en-US" sz="1600" dirty="0">
                <a:solidFill>
                  <a:srgbClr val="11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CCHC là cánh tay truyền thông của Tổng hội Y học Việt Nam — dùng uy tín thể chế để bảo chứng nội dung y tế và tạo ảnh hưởng chính sách.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3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tắc bề mặt: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1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“Dân vận đi trước” — người dân được phục vụ trước; thẩm quyền thể chế nâng đỡ phía sau.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Lợi thế không nằm ở lượng nội dung, mà ở tầng quyền lực hậu thuẫn — thứ không thể sao chép.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040880" y="1325880"/>
            <a:ext cx="4572000" cy="1417320"/>
          </a:xfrm>
          <a:prstGeom prst="roundRect">
            <a:avLst>
              <a:gd name="adj" fmla="val 5806"/>
            </a:avLst>
          </a:prstGeom>
          <a:solidFill>
            <a:srgbClr val="EAF7FB"/>
          </a:solidFill>
          <a:ln w="12700">
            <a:solidFill>
              <a:srgbClr val="D6E9EF"/>
            </a:solidFill>
            <a:prstDash val="solid"/>
          </a:ln>
          <a:effectLst>
            <a:outerShdw blurRad="114300" dist="38100" dir="5400000" algn="bl" rotWithShape="0">
              <a:srgbClr val="01293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269480" y="1435608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37B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2.000+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189720" y="1435608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1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chuyên gia từ 50+ chuyên ngành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040880" y="2926080"/>
            <a:ext cx="4572000" cy="1417320"/>
          </a:xfrm>
          <a:prstGeom prst="roundRect">
            <a:avLst>
              <a:gd name="adj" fmla="val 5806"/>
            </a:avLst>
          </a:prstGeom>
          <a:solidFill>
            <a:srgbClr val="EAF7FB"/>
          </a:solidFill>
          <a:ln w="12700">
            <a:solidFill>
              <a:srgbClr val="D6E9EF"/>
            </a:solidFill>
            <a:prstDash val="solid"/>
          </a:ln>
          <a:effectLst>
            <a:outerShdw blurRad="114300" dist="38100" dir="5400000" algn="bl" rotWithShape="0">
              <a:srgbClr val="01293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269480" y="3035808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37B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75+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9189720" y="3035808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1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 lịch sử (thành lập 1955)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040880" y="4526280"/>
            <a:ext cx="4572000" cy="1417320"/>
          </a:xfrm>
          <a:prstGeom prst="roundRect">
            <a:avLst>
              <a:gd name="adj" fmla="val 5806"/>
            </a:avLst>
          </a:prstGeom>
          <a:solidFill>
            <a:srgbClr val="EAF7FB"/>
          </a:solidFill>
          <a:ln w="12700">
            <a:solidFill>
              <a:srgbClr val="D6E9EF"/>
            </a:solidFill>
            <a:prstDash val="solid"/>
          </a:ln>
          <a:effectLst>
            <a:outerShdw blurRad="114300" dist="38100" dir="5400000" algn="bl" rotWithShape="0">
              <a:srgbClr val="01293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269480" y="4636008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37B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NĐ 96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9189720" y="4636008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1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thẩm quyền CME độc quyền (2023)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129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Khung chiến lược “4 Lớp nang” — xương sống của thiết kế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58384" cy="2103120"/>
          </a:xfrm>
          <a:prstGeom prst="roundRect">
            <a:avLst>
              <a:gd name="adj" fmla="val 3913"/>
            </a:avLst>
          </a:prstGeom>
          <a:solidFill>
            <a:srgbClr val="EAF7FB"/>
          </a:solidFill>
          <a:ln w="12700">
            <a:solidFill>
              <a:srgbClr val="D6E9EF"/>
            </a:solidFill>
            <a:prstDash val="solid"/>
          </a:ln>
          <a:effectLst>
            <a:outerShdw blurRad="114300" dist="38100" dir="5400000" algn="bl" rotWithShape="0">
              <a:srgbClr val="01293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4672" y="1673352"/>
            <a:ext cx="566928" cy="566928"/>
          </a:xfrm>
          <a:prstGeom prst="ellipse">
            <a:avLst/>
          </a:prstGeom>
          <a:solidFill>
            <a:srgbClr val="012932"/>
          </a:solidFill>
          <a:ln w="12700">
            <a:solidFill>
              <a:srgbClr val="0129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673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1636776"/>
            <a:ext cx="4169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129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Chính danh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4809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1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chứng bằng Tổng hội, hội chuyên khoa, hội đồng khoa học — gốc thẩm quyền cho mọi nội dung.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81928" y="1417320"/>
            <a:ext cx="5358384" cy="2103120"/>
          </a:xfrm>
          <a:prstGeom prst="roundRect">
            <a:avLst>
              <a:gd name="adj" fmla="val 3913"/>
            </a:avLst>
          </a:prstGeom>
          <a:solidFill>
            <a:srgbClr val="EAF7FB"/>
          </a:solidFill>
          <a:ln w="12700">
            <a:solidFill>
              <a:srgbClr val="D6E9EF"/>
            </a:solidFill>
            <a:prstDash val="solid"/>
          </a:ln>
          <a:effectLst>
            <a:outerShdw blurRad="114300" dist="38100" dir="5400000" algn="bl" rotWithShape="0">
              <a:srgbClr val="01293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37960" y="1673352"/>
            <a:ext cx="566928" cy="566928"/>
          </a:xfrm>
          <a:prstGeom prst="ellipse">
            <a:avLst/>
          </a:prstGeom>
          <a:solidFill>
            <a:srgbClr val="037B96"/>
          </a:solidFill>
          <a:ln w="12700">
            <a:solidFill>
              <a:srgbClr val="037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37960" y="1673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42048" y="1636776"/>
            <a:ext cx="4169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37B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 thức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56248" y="2350008"/>
            <a:ext cx="4809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1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 tin cấp một; công cụ tra cứu y khoa dễ hiểu, an toàn cho người dân.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358384" cy="2103120"/>
          </a:xfrm>
          <a:prstGeom prst="roundRect">
            <a:avLst>
              <a:gd name="adj" fmla="val 3913"/>
            </a:avLst>
          </a:prstGeom>
          <a:solidFill>
            <a:srgbClr val="EAF7FB"/>
          </a:solidFill>
          <a:ln w="12700">
            <a:solidFill>
              <a:srgbClr val="D6E9EF"/>
            </a:solidFill>
            <a:prstDash val="solid"/>
          </a:ln>
          <a:effectLst>
            <a:outerShdw blurRad="114300" dist="38100" dir="5400000" algn="bl" rotWithShape="0">
              <a:srgbClr val="01293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4672" y="3959352"/>
            <a:ext cx="566928" cy="566928"/>
          </a:xfrm>
          <a:prstGeom prst="ellipse">
            <a:avLst/>
          </a:prstGeom>
          <a:solidFill>
            <a:srgbClr val="037B96"/>
          </a:solidFill>
          <a:ln w="12700">
            <a:solidFill>
              <a:srgbClr val="037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04672" y="3959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8760" y="3922776"/>
            <a:ext cx="4169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37B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Hành động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960" y="4636008"/>
            <a:ext cx="4809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1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Vinh danh &amp; kết nối chuyên gia; mở kênh hợp tác, đào tạo, chuyển giao KHCN.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81928" y="3703320"/>
            <a:ext cx="5358384" cy="2103120"/>
          </a:xfrm>
          <a:prstGeom prst="roundRect">
            <a:avLst>
              <a:gd name="adj" fmla="val 3913"/>
            </a:avLst>
          </a:prstGeom>
          <a:solidFill>
            <a:srgbClr val="EAF7FB"/>
          </a:solidFill>
          <a:ln w="12700">
            <a:solidFill>
              <a:srgbClr val="D6E9EF"/>
            </a:solidFill>
            <a:prstDash val="solid"/>
          </a:ln>
          <a:effectLst>
            <a:outerShdw blurRad="114300" dist="38100" dir="5400000" algn="bl" rotWithShape="0">
              <a:srgbClr val="01293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37960" y="3959352"/>
            <a:ext cx="566928" cy="566928"/>
          </a:xfrm>
          <a:prstGeom prst="ellipse">
            <a:avLst/>
          </a:prstGeom>
          <a:solidFill>
            <a:srgbClr val="012932"/>
          </a:solidFill>
          <a:ln w="12700">
            <a:solidFill>
              <a:srgbClr val="0129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37960" y="3959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42048" y="3922776"/>
            <a:ext cx="4169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129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Minh bạch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556248" y="4636008"/>
            <a:ext cx="4809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1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khai quy trình 8 bước, COI, AI có kiểm soát, nhật ký đính chính — giới hạn quyền lực.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129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Năm triết lý thiết kế (trên nền bằng chứng hành vi)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66928" y="1444752"/>
            <a:ext cx="548640" cy="548640"/>
          </a:xfrm>
          <a:prstGeom prst="ellipse">
            <a:avLst/>
          </a:prstGeom>
          <a:solidFill>
            <a:srgbClr val="012932"/>
          </a:solidFill>
          <a:ln w="12700">
            <a:solidFill>
              <a:srgbClr val="0129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129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Nhân dân-centric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434840" y="137160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1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Trải nghiệm 3 giây; dùng tên bệnh thay tên chuyên khoa; đi thẳng vào vấn đề.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281160" y="1389888"/>
            <a:ext cx="2377440" cy="658368"/>
          </a:xfrm>
          <a:prstGeom prst="roundRect">
            <a:avLst>
              <a:gd name="adj" fmla="val 12500"/>
            </a:avLst>
          </a:prstGeom>
          <a:solidFill>
            <a:srgbClr val="EAF7FB"/>
          </a:solidFill>
          <a:ln w="12700">
            <a:solidFill>
              <a:srgbClr val="D6E9EF"/>
            </a:solidFill>
            <a:prstDash val="solid"/>
          </a:ln>
          <a:effectLst>
            <a:outerShdw blurRad="114300" dist="38100" dir="5400000" algn="bl" rotWithShape="0">
              <a:srgbClr val="01293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72600" y="138988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03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97,2% tra cứu qua điện thoại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377440"/>
            <a:ext cx="548640" cy="548640"/>
          </a:xfrm>
          <a:prstGeom prst="ellipse">
            <a:avLst/>
          </a:prstGeom>
          <a:solidFill>
            <a:srgbClr val="037B96"/>
          </a:solidFill>
          <a:ln w="12700">
            <a:solidFill>
              <a:srgbClr val="037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30428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129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rào cản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34840" y="230428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1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Miễn phí; không ép đăng nhập (mô hình Fogg).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281160" y="2322576"/>
            <a:ext cx="2377440" cy="658368"/>
          </a:xfrm>
          <a:prstGeom prst="roundRect">
            <a:avLst>
              <a:gd name="adj" fmla="val 12500"/>
            </a:avLst>
          </a:prstGeom>
          <a:solidFill>
            <a:srgbClr val="EAF7FB"/>
          </a:solidFill>
          <a:ln w="12700">
            <a:solidFill>
              <a:srgbClr val="D6E9EF"/>
            </a:solidFill>
            <a:prstDash val="solid"/>
          </a:ln>
          <a:effectLst>
            <a:outerShdw blurRad="114300" dist="38100" dir="5400000" algn="bl" rotWithShape="0">
              <a:srgbClr val="01293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372600" y="232257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03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Miễn phí = 46,9% trọng số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310128"/>
            <a:ext cx="548640" cy="548640"/>
          </a:xfrm>
          <a:prstGeom prst="ellipse">
            <a:avLst/>
          </a:prstGeom>
          <a:solidFill>
            <a:srgbClr val="012932"/>
          </a:solidFill>
          <a:ln w="12700">
            <a:solidFill>
              <a:srgbClr val="0129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3310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236976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129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Mobile-first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34840" y="3236976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1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Điện thoại là chuẩn gốc; 18/44/8dp; tối đa 4 nút; tối ưu một tay.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281160" y="3255264"/>
            <a:ext cx="2377440" cy="658368"/>
          </a:xfrm>
          <a:prstGeom prst="roundRect">
            <a:avLst>
              <a:gd name="adj" fmla="val 12500"/>
            </a:avLst>
          </a:prstGeom>
          <a:solidFill>
            <a:srgbClr val="EAF7FB"/>
          </a:solidFill>
          <a:ln w="12700">
            <a:solidFill>
              <a:srgbClr val="D6E9EF"/>
            </a:solidFill>
            <a:prstDash val="solid"/>
          </a:ln>
          <a:effectLst>
            <a:outerShdw blurRad="114300" dist="38100" dir="5400000" algn="bl" rotWithShape="0">
              <a:srgbClr val="01293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372600" y="325526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03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người dùng 3G/2G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4242816"/>
            <a:ext cx="548640" cy="548640"/>
          </a:xfrm>
          <a:prstGeom prst="ellipse">
            <a:avLst/>
          </a:prstGeom>
          <a:solidFill>
            <a:srgbClr val="037B96"/>
          </a:solidFill>
          <a:ln w="12700">
            <a:solidFill>
              <a:srgbClr val="037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6928" y="4242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4169664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129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Chính danh ba tầng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434840" y="4169664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1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Thể chế + Chuyên gia + Biên tập hiển thị rõ trên mỗi bài.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9281160" y="4187952"/>
            <a:ext cx="2377440" cy="658368"/>
          </a:xfrm>
          <a:prstGeom prst="roundRect">
            <a:avLst>
              <a:gd name="adj" fmla="val 12500"/>
            </a:avLst>
          </a:prstGeom>
          <a:solidFill>
            <a:srgbClr val="EAF7FB"/>
          </a:solidFill>
          <a:ln w="12700">
            <a:solidFill>
              <a:srgbClr val="D6E9EF"/>
            </a:solidFill>
            <a:prstDash val="solid"/>
          </a:ln>
          <a:effectLst>
            <a:outerShdw blurRad="114300" dist="38100" dir="5400000" algn="bl" rotWithShape="0">
              <a:srgbClr val="01293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372600" y="418795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03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+89% thuyết phục (d=0,89)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5175504"/>
            <a:ext cx="548640" cy="548640"/>
          </a:xfrm>
          <a:prstGeom prst="ellipse">
            <a:avLst/>
          </a:prstGeom>
          <a:solidFill>
            <a:srgbClr val="012932"/>
          </a:solidFill>
          <a:ln w="12700">
            <a:solidFill>
              <a:srgbClr val="0129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66928" y="51755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80160" y="510235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129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Giữ chân bằng utility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434840" y="510235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1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cụ cần thật; theo dõi chủ đề; cộng đồng.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9281160" y="5120640"/>
            <a:ext cx="2377440" cy="658368"/>
          </a:xfrm>
          <a:prstGeom prst="roundRect">
            <a:avLst>
              <a:gd name="adj" fmla="val 12500"/>
            </a:avLst>
          </a:prstGeom>
          <a:solidFill>
            <a:srgbClr val="EAF7FB"/>
          </a:solidFill>
          <a:ln w="12700">
            <a:solidFill>
              <a:srgbClr val="D6E9EF"/>
            </a:solidFill>
            <a:prstDash val="solid"/>
          </a:ln>
          <a:effectLst>
            <a:outerShdw blurRad="114300" dist="38100" dir="5400000" algn="bl" rotWithShape="0">
              <a:srgbClr val="01293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372600" y="512064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03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 cao khi người dùng lo lắng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29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Mobile-first mặc định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2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Điện thoại là chuẩn gốc — máy tính chỉ là bản mở rộng.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0A3A45"/>
          </a:solidFill>
          <a:ln w="12700">
            <a:solidFill>
              <a:srgbClr val="037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82E6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97,2%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04088" y="285292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Việt tra cứu y tế qua điện thoại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196596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0A3A45"/>
          </a:solidFill>
          <a:ln w="12700">
            <a:solidFill>
              <a:srgbClr val="037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434840" y="21031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82E6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453128" y="285292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tải trang (mỗi giây trễ +7–12% thoát)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196596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0A3A45"/>
          </a:solidFill>
          <a:ln w="12700">
            <a:solidFill>
              <a:srgbClr val="037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183880" y="21031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82E6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/ 44 / 8 dp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202168" y="285292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cỡ chữ · vùng chạm · khoảng cách tối thiểu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hướng chính: thanh tab đáy — tối đa 4 nút (Định luật Hick)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2697480" cy="868680"/>
          </a:xfrm>
          <a:prstGeom prst="roundRect">
            <a:avLst>
              <a:gd name="adj" fmla="val 12632"/>
            </a:avLst>
          </a:prstGeom>
          <a:solidFill>
            <a:srgbClr val="037B96"/>
          </a:solidFill>
          <a:ln w="12700">
            <a:solidFill>
              <a:srgbClr val="037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44805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chủ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337560" y="4480560"/>
            <a:ext cx="2697480" cy="868680"/>
          </a:xfrm>
          <a:prstGeom prst="roundRect">
            <a:avLst>
              <a:gd name="adj" fmla="val 12632"/>
            </a:avLst>
          </a:prstGeom>
          <a:solidFill>
            <a:srgbClr val="0A3A45"/>
          </a:solidFill>
          <a:ln w="12700">
            <a:solidFill>
              <a:srgbClr val="037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37560" y="44805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cứu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26480" y="4480560"/>
            <a:ext cx="2697480" cy="868680"/>
          </a:xfrm>
          <a:prstGeom prst="roundRect">
            <a:avLst>
              <a:gd name="adj" fmla="val 12632"/>
            </a:avLst>
          </a:prstGeom>
          <a:solidFill>
            <a:srgbClr val="0A3A45"/>
          </a:solidFill>
          <a:ln w="12700">
            <a:solidFill>
              <a:srgbClr val="037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26480" y="44805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 bác sĩ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915400" y="4480560"/>
            <a:ext cx="2697480" cy="868680"/>
          </a:xfrm>
          <a:prstGeom prst="roundRect">
            <a:avLst>
              <a:gd name="adj" fmla="val 12632"/>
            </a:avLst>
          </a:prstGeom>
          <a:solidFill>
            <a:srgbClr val="0A3A45"/>
          </a:solidFill>
          <a:ln w="12700">
            <a:solidFill>
              <a:srgbClr val="037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915400" y="44805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129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Chính danh ba tầng — vì sao người đọc tin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657600" cy="3566160"/>
          </a:xfrm>
          <a:prstGeom prst="roundRect">
            <a:avLst>
              <a:gd name="adj" fmla="val 2564"/>
            </a:avLst>
          </a:prstGeom>
          <a:solidFill>
            <a:srgbClr val="012932"/>
          </a:solidFill>
          <a:ln/>
          <a:effectLst>
            <a:outerShdw blurRad="114300" dist="38100" dir="5400000" algn="bl" rotWithShape="0">
              <a:srgbClr val="01293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82E6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+89%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77240" y="30632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sức thuyết phục tăng thêm khi chính danh hiển thị rõ ràng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FC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Agent Effect · d = 0,89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26280" y="1463040"/>
            <a:ext cx="7132320" cy="1078992"/>
          </a:xfrm>
          <a:prstGeom prst="roundRect">
            <a:avLst>
              <a:gd name="adj" fmla="val 7627"/>
            </a:avLst>
          </a:prstGeom>
          <a:solidFill>
            <a:srgbClr val="EAF7FB"/>
          </a:solidFill>
          <a:ln w="12700">
            <a:solidFill>
              <a:srgbClr val="D6E9EF"/>
            </a:solidFill>
            <a:prstDash val="solid"/>
          </a:ln>
          <a:effectLst>
            <a:outerShdw blurRad="114300" dist="38100" dir="5400000" algn="bl" rotWithShape="0">
              <a:srgbClr val="01293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54880" y="1728216"/>
            <a:ext cx="548640" cy="548640"/>
          </a:xfrm>
          <a:prstGeom prst="ellipse">
            <a:avLst/>
          </a:prstGeom>
          <a:solidFill>
            <a:srgbClr val="012932"/>
          </a:solidFill>
          <a:ln w="12700">
            <a:solidFill>
              <a:srgbClr val="0129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0" y="17282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0" y="1591056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129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Tầng 1 · Thể chế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0" y="197510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vị chỉ đạo: Tổng hội Y học Việt Nam — không thể làm giả.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26280" y="2670048"/>
            <a:ext cx="7132320" cy="1078992"/>
          </a:xfrm>
          <a:prstGeom prst="roundRect">
            <a:avLst>
              <a:gd name="adj" fmla="val 7627"/>
            </a:avLst>
          </a:prstGeom>
          <a:solidFill>
            <a:srgbClr val="EAF7FB"/>
          </a:solidFill>
          <a:ln w="12700">
            <a:solidFill>
              <a:srgbClr val="D6E9EF"/>
            </a:solidFill>
            <a:prstDash val="solid"/>
          </a:ln>
          <a:effectLst>
            <a:outerShdw blurRad="114300" dist="38100" dir="5400000" algn="bl" rotWithShape="0">
              <a:srgbClr val="01293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2935224"/>
            <a:ext cx="548640" cy="548640"/>
          </a:xfrm>
          <a:prstGeom prst="ellipse">
            <a:avLst/>
          </a:prstGeom>
          <a:solidFill>
            <a:srgbClr val="037B96"/>
          </a:solidFill>
          <a:ln w="12700">
            <a:solidFill>
              <a:srgbClr val="037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29352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0" y="279806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129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Tầng 2 · Chuyên gia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486400" y="318211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Tên, học hàm/học vị, cơ sở công tác — tra cứu &amp; xác minh được.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26280" y="3877056"/>
            <a:ext cx="7132320" cy="1078992"/>
          </a:xfrm>
          <a:prstGeom prst="roundRect">
            <a:avLst>
              <a:gd name="adj" fmla="val 7627"/>
            </a:avLst>
          </a:prstGeom>
          <a:solidFill>
            <a:srgbClr val="EAF7FB"/>
          </a:solidFill>
          <a:ln w="12700">
            <a:solidFill>
              <a:srgbClr val="D6E9EF"/>
            </a:solidFill>
            <a:prstDash val="solid"/>
          </a:ln>
          <a:effectLst>
            <a:outerShdw blurRad="114300" dist="38100" dir="5400000" algn="bl" rotWithShape="0">
              <a:srgbClr val="01293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4142232"/>
            <a:ext cx="548640" cy="548640"/>
          </a:xfrm>
          <a:prstGeom prst="ellipse">
            <a:avLst/>
          </a:prstGeom>
          <a:solidFill>
            <a:srgbClr val="012932"/>
          </a:solidFill>
          <a:ln w="12700">
            <a:solidFill>
              <a:srgbClr val="0129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4142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0" y="400507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129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Tầng 3 · Biên tập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486400" y="43891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vị biên tập CCHC + ngày cập nhật — nội dung còn hiện hành.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129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Trang bài viết — Quy tắc 3 giây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6 dòng đầu (mobile), người đọc quyết định: bài nói gì? có đáng tin? đọc tiếp hay thoát?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037B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Trên cùng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337560" y="1828800"/>
            <a:ext cx="8302752" cy="1280160"/>
          </a:xfrm>
          <a:prstGeom prst="roundRect">
            <a:avLst>
              <a:gd name="adj" fmla="val 6429"/>
            </a:avLst>
          </a:prstGeom>
          <a:solidFill>
            <a:srgbClr val="EAF7FB"/>
          </a:solidFill>
          <a:ln w="12700">
            <a:solidFill>
              <a:srgbClr val="D6E9EF"/>
            </a:solidFill>
            <a:prstDash val="solid"/>
          </a:ln>
          <a:effectLst>
            <a:outerShdw blurRad="114300" dist="38100" dir="5400000" algn="bl" rotWithShape="0">
              <a:srgbClr val="01293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520440" y="193852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12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tiên 1 — Nói về gì? Đáng tin không?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520440" y="2359152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1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đề trực tiếp · Nhãn M1–M4 · Ảnh + tên chuyên gia · Badge “Trực thuộc Tổng hội Y học VN”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0129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Vùng giữa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3337560" y="3246120"/>
            <a:ext cx="8302752" cy="1280160"/>
          </a:xfrm>
          <a:prstGeom prst="roundRect">
            <a:avLst>
              <a:gd name="adj" fmla="val 6429"/>
            </a:avLst>
          </a:prstGeom>
          <a:solidFill>
            <a:srgbClr val="EAF7FB"/>
          </a:solidFill>
          <a:ln w="12700">
            <a:solidFill>
              <a:srgbClr val="D6E9EF"/>
            </a:solidFill>
            <a:prstDash val="solid"/>
          </a:ln>
          <a:effectLst>
            <a:outerShdw blurRad="114300" dist="38100" dir="5400000" algn="bl" rotWithShape="0">
              <a:srgbClr val="01293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20440" y="33558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12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tiên 2 — Đọc tiếp hay thoát?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20440" y="3776472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1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Tóm tắt nhanh đầu bài · Nội dung chi tiết · Outbound Trust Link (Bộ Y tế, WHO, PubMed)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037B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466344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Vùng dưới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3337560" y="4663440"/>
            <a:ext cx="8302752" cy="1280160"/>
          </a:xfrm>
          <a:prstGeom prst="roundRect">
            <a:avLst>
              <a:gd name="adj" fmla="val 6429"/>
            </a:avLst>
          </a:prstGeom>
          <a:solidFill>
            <a:srgbClr val="EAF7FB"/>
          </a:solidFill>
          <a:ln w="12700">
            <a:solidFill>
              <a:srgbClr val="D6E9EF"/>
            </a:solidFill>
            <a:prstDash val="solid"/>
          </a:ln>
          <a:effectLst>
            <a:outerShdw blurRad="114300" dist="38100" dir="5400000" algn="bl" rotWithShape="0">
              <a:srgbClr val="01293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520440" y="477316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12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tiên 3 — Hành động tiếp theo?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520440" y="5193792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1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 tham khảo · Chia sẻ · Bài liên quan · CTA (đăng ký / hỏi chuyên gia / báo sai sót)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129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Bốn trụ cột chiến lược — vị trí danh giá trên trang chủ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120700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phải bốn tính năng, mà là bốn sứ mệnh thể chế — lưới 2×2 ngay dưới banner.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58384" cy="2011680"/>
          </a:xfrm>
          <a:prstGeom prst="roundRect">
            <a:avLst>
              <a:gd name="adj" fmla="val 4091"/>
            </a:avLst>
          </a:prstGeom>
          <a:solidFill>
            <a:srgbClr val="EAF7FB"/>
          </a:solidFill>
          <a:ln w="12700">
            <a:solidFill>
              <a:srgbClr val="D6E9EF"/>
            </a:solidFill>
            <a:prstDash val="solid"/>
          </a:ln>
          <a:effectLst>
            <a:outerShdw blurRad="114300" dist="38100" dir="5400000" algn="bl" rotWithShape="0">
              <a:srgbClr val="01293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" y="2002536"/>
            <a:ext cx="4809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129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Đào tạo Y khoa Liên tục (CME)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2697480"/>
            <a:ext cx="4809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1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CME chính thức theo NĐ96/2023.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41248" y="3264408"/>
            <a:ext cx="4773168" cy="384048"/>
          </a:xfrm>
          <a:prstGeom prst="roundRect">
            <a:avLst>
              <a:gd name="adj" fmla="val 47619"/>
            </a:avLst>
          </a:prstGeom>
          <a:solidFill>
            <a:srgbClr val="EAF7FB"/>
          </a:solidFill>
          <a:ln w="12700">
            <a:solidFill>
              <a:srgbClr val="037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3264408"/>
            <a:ext cx="4773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Dòng doanh thu độc quyền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81928" y="1783080"/>
            <a:ext cx="5358384" cy="2011680"/>
          </a:xfrm>
          <a:prstGeom prst="roundRect">
            <a:avLst>
              <a:gd name="adj" fmla="val 4091"/>
            </a:avLst>
          </a:prstGeom>
          <a:solidFill>
            <a:srgbClr val="EAF7FB"/>
          </a:solidFill>
          <a:ln w="12700">
            <a:solidFill>
              <a:srgbClr val="D6E9EF"/>
            </a:solidFill>
            <a:prstDash val="solid"/>
          </a:ln>
          <a:effectLst>
            <a:outerShdw blurRad="114300" dist="38100" dir="5400000" algn="bl" rotWithShape="0">
              <a:srgbClr val="01293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74536" y="2002536"/>
            <a:ext cx="4809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129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Tài liệu dành cho bác sĩ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74536" y="2697480"/>
            <a:ext cx="4809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1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từ 2.000+ chuyên gia, Tổng hội chọn lọc.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74536" y="3264408"/>
            <a:ext cx="4773168" cy="384048"/>
          </a:xfrm>
          <a:prstGeom prst="roundRect">
            <a:avLst>
              <a:gd name="adj" fmla="val 47619"/>
            </a:avLst>
          </a:prstGeom>
          <a:solidFill>
            <a:srgbClr val="EAF7FB"/>
          </a:solidFill>
          <a:ln w="12700">
            <a:solidFill>
              <a:srgbClr val="037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74536" y="3264408"/>
            <a:ext cx="4773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 tài sản trí tuệ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358384" cy="2011680"/>
          </a:xfrm>
          <a:prstGeom prst="roundRect">
            <a:avLst>
              <a:gd name="adj" fmla="val 4091"/>
            </a:avLst>
          </a:prstGeom>
          <a:solidFill>
            <a:srgbClr val="EAF7FB"/>
          </a:solidFill>
          <a:ln w="12700">
            <a:solidFill>
              <a:srgbClr val="D6E9EF"/>
            </a:solidFill>
            <a:prstDash val="solid"/>
          </a:ln>
          <a:effectLst>
            <a:outerShdw blurRad="114300" dist="38100" dir="5400000" algn="bl" rotWithShape="0">
              <a:srgbClr val="01293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1248" y="4197096"/>
            <a:ext cx="4809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129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Người Việt Khỏe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" y="4892040"/>
            <a:ext cx="4809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1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Chiến dịch sức khỏe cộng đồng toàn dân.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41248" y="5458968"/>
            <a:ext cx="4773168" cy="384048"/>
          </a:xfrm>
          <a:prstGeom prst="roundRect">
            <a:avLst>
              <a:gd name="adj" fmla="val 47619"/>
            </a:avLst>
          </a:prstGeom>
          <a:solidFill>
            <a:srgbClr val="EAF7FB"/>
          </a:solidFill>
          <a:ln w="12700">
            <a:solidFill>
              <a:srgbClr val="037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41248" y="5458968"/>
            <a:ext cx="4773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mô cộng đồng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81928" y="3977640"/>
            <a:ext cx="5358384" cy="2011680"/>
          </a:xfrm>
          <a:prstGeom prst="roundRect">
            <a:avLst>
              <a:gd name="adj" fmla="val 4091"/>
            </a:avLst>
          </a:prstGeom>
          <a:solidFill>
            <a:srgbClr val="EAF7FB"/>
          </a:solidFill>
          <a:ln w="12700">
            <a:solidFill>
              <a:srgbClr val="D6E9EF"/>
            </a:solidFill>
            <a:prstDash val="solid"/>
          </a:ln>
          <a:effectLst>
            <a:outerShdw blurRad="114300" dist="38100" dir="5400000" algn="bl" rotWithShape="0">
              <a:srgbClr val="01293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74536" y="4197096"/>
            <a:ext cx="4809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129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Chăm sóc Người cao tuổi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74536" y="4892040"/>
            <a:ext cx="4809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1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Khoảng trống lớn nhất — chưa nền tảng nào làm.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74536" y="5458968"/>
            <a:ext cx="4773168" cy="384048"/>
          </a:xfrm>
          <a:prstGeom prst="roundRect">
            <a:avLst>
              <a:gd name="adj" fmla="val 47619"/>
            </a:avLst>
          </a:prstGeom>
          <a:solidFill>
            <a:srgbClr val="EAF7FB"/>
          </a:solidFill>
          <a:ln w="12700">
            <a:solidFill>
              <a:srgbClr val="037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74536" y="5458968"/>
            <a:ext cx="4773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vị độc nhất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129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Hệ màu — Xanh dương là màu của ngành y tế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1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Xanh dương gợi tin cậy, tinh khiết, chuyên môn y khoa. CCHC dùng xanh làm màu thương hiệu chủ đạo, đồng bộ xuyên suốt để mỗi màn hình lập tức phát tín hiệu “nội dung y tế chính thống, đáng tin”. Màu ở đây là một tầng nhãn thẩm quyền, không phải trang trí.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12932"/>
          </a:solidFill>
          <a:ln w="12700">
            <a:solidFill>
              <a:srgbClr val="D6E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#012932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4348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11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Thẩm quyền — hero, footer, icon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46704" y="274320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37B96"/>
          </a:solidFill>
          <a:ln w="12700">
            <a:solidFill>
              <a:srgbClr val="D6E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29584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Cobalt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529584" y="3383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#037B96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46704" y="44348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11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 động — CTA, link, tiêu đề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44768" y="274320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82E6FD"/>
          </a:solidFill>
          <a:ln w="12700">
            <a:solidFill>
              <a:srgbClr val="D6E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27648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129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Xanh nhạt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27648" y="3383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12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#82E6FD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44768" y="44348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11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tint, trust strip, chip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942832" y="274320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C0392B"/>
          </a:solidFill>
          <a:ln w="12700">
            <a:solidFill>
              <a:srgbClr val="D6E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25712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Coral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25712" y="3383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#C0392B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42832" y="44348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11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nguy cơ / khẩn cấp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12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tắc: xanh = y tế &amp; thẩm quyền · đỏ = dừng lại / nguy hiểm.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129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Một nội dung, đa trải nghiệm &amp; Giữ chân người dùng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129844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3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“Produce once, publish everywhere” — nhân bội định dạng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577840" cy="713232"/>
          </a:xfrm>
          <a:prstGeom prst="roundRect">
            <a:avLst>
              <a:gd name="adj" fmla="val 11538"/>
            </a:avLst>
          </a:prstGeom>
          <a:solidFill>
            <a:srgbClr val="EAF7FB"/>
          </a:solidFill>
          <a:ln w="12700">
            <a:solidFill>
              <a:srgbClr val="D6E9EF"/>
            </a:solidFill>
            <a:prstDash val="solid"/>
          </a:ln>
          <a:effectLst>
            <a:outerShdw blurRad="114300" dist="38100" dir="5400000" algn="bl" rotWithShape="0">
              <a:srgbClr val="01293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129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Bài dài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697480" y="187452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chuyên sâu · ≥ 800 từ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5577840" cy="713232"/>
          </a:xfrm>
          <a:prstGeom prst="roundRect">
            <a:avLst>
              <a:gd name="adj" fmla="val 11538"/>
            </a:avLst>
          </a:prstGeom>
          <a:solidFill>
            <a:srgbClr val="EAF7FB"/>
          </a:solidFill>
          <a:ln w="12700">
            <a:solidFill>
              <a:srgbClr val="D6E9EF"/>
            </a:solidFill>
            <a:prstDash val="solid"/>
          </a:ln>
          <a:effectLst>
            <a:outerShdw blurRad="114300" dist="38100" dir="5400000" algn="bl" rotWithShape="0">
              <a:srgbClr val="01293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129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ngắn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697480" y="269748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Demo, thực hành · 1–3 phút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5577840" cy="713232"/>
          </a:xfrm>
          <a:prstGeom prst="roundRect">
            <a:avLst>
              <a:gd name="adj" fmla="val 11538"/>
            </a:avLst>
          </a:prstGeom>
          <a:solidFill>
            <a:srgbClr val="EAF7FB"/>
          </a:solidFill>
          <a:ln w="12700">
            <a:solidFill>
              <a:srgbClr val="D6E9EF"/>
            </a:solidFill>
            <a:prstDash val="solid"/>
          </a:ln>
          <a:effectLst>
            <a:outerShdw blurRad="114300" dist="38100" dir="5400000" algn="bl" rotWithShape="0">
              <a:srgbClr val="01293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52044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129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Infographic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97480" y="352044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sánh, số liệu · 1 scroll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5577840" cy="713232"/>
          </a:xfrm>
          <a:prstGeom prst="roundRect">
            <a:avLst>
              <a:gd name="adj" fmla="val 11538"/>
            </a:avLst>
          </a:prstGeom>
          <a:solidFill>
            <a:srgbClr val="EAF7FB"/>
          </a:solidFill>
          <a:ln w="12700">
            <a:solidFill>
              <a:srgbClr val="D6E9EF"/>
            </a:solidFill>
            <a:prstDash val="solid"/>
          </a:ln>
          <a:effectLst>
            <a:outerShdw blurRad="114300" dist="38100" dir="5400000" algn="bl" rotWithShape="0">
              <a:srgbClr val="01293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434340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129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Q&amp;A Card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97480" y="434340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hỏi – 1 đáp · ≤ 150 từ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5577840" cy="713232"/>
          </a:xfrm>
          <a:prstGeom prst="roundRect">
            <a:avLst>
              <a:gd name="adj" fmla="val 11538"/>
            </a:avLst>
          </a:prstGeom>
          <a:solidFill>
            <a:srgbClr val="EAF7FB"/>
          </a:solidFill>
          <a:ln w="12700">
            <a:solidFill>
              <a:srgbClr val="D6E9EF"/>
            </a:solidFill>
            <a:prstDash val="solid"/>
          </a:ln>
          <a:effectLst>
            <a:outerShdw blurRad="114300" dist="38100" dir="5400000" algn="bl" rotWithShape="0">
              <a:srgbClr val="01293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516636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129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Podcast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697480" y="516636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Nghe khi di chuyển · 10–20 phút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92240" y="129844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3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nguyên tắc giữ chân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92240" y="1874520"/>
            <a:ext cx="5148072" cy="1234440"/>
          </a:xfrm>
          <a:prstGeom prst="roundRect">
            <a:avLst>
              <a:gd name="adj" fmla="val 6667"/>
            </a:avLst>
          </a:prstGeom>
          <a:solidFill>
            <a:srgbClr val="EAF7FB"/>
          </a:solidFill>
          <a:ln w="12700">
            <a:solidFill>
              <a:srgbClr val="D6E9EF"/>
            </a:solidFill>
            <a:prstDash val="solid"/>
          </a:ln>
          <a:effectLst>
            <a:outerShdw blurRad="114300" dist="38100" dir="5400000" algn="bl" rotWithShape="0">
              <a:srgbClr val="01293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02552" y="2185416"/>
            <a:ext cx="548640" cy="548640"/>
          </a:xfrm>
          <a:prstGeom prst="ellipse">
            <a:avLst/>
          </a:prstGeom>
          <a:solidFill>
            <a:srgbClr val="012932"/>
          </a:solidFill>
          <a:ln w="12700">
            <a:solidFill>
              <a:srgbClr val="0129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02552" y="21854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24928" y="202082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29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Utility khẩn cấp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24928" y="244144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1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cứu triệu chứng, nhắc thuốc, tương tác thuốc, lịch tái khám.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92240" y="3246120"/>
            <a:ext cx="5148072" cy="1234440"/>
          </a:xfrm>
          <a:prstGeom prst="roundRect">
            <a:avLst>
              <a:gd name="adj" fmla="val 6667"/>
            </a:avLst>
          </a:prstGeom>
          <a:solidFill>
            <a:srgbClr val="EAF7FB"/>
          </a:solidFill>
          <a:ln w="12700">
            <a:solidFill>
              <a:srgbClr val="D6E9EF"/>
            </a:solidFill>
            <a:prstDash val="solid"/>
          </a:ln>
          <a:effectLst>
            <a:outerShdw blurRad="114300" dist="38100" dir="5400000" algn="bl" rotWithShape="0">
              <a:srgbClr val="01293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702552" y="3557016"/>
            <a:ext cx="548640" cy="548640"/>
          </a:xfrm>
          <a:prstGeom prst="ellipse">
            <a:avLst/>
          </a:prstGeom>
          <a:solidFill>
            <a:srgbClr val="037B96"/>
          </a:solidFill>
          <a:ln w="12700">
            <a:solidFill>
              <a:srgbClr val="037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02552" y="35570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24928" y="339242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29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&amp; Continuity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24928" y="381304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1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lịch sử đọc, theo dõi chủ đề, cá nhân hóa.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92240" y="4617720"/>
            <a:ext cx="5148072" cy="1234440"/>
          </a:xfrm>
          <a:prstGeom prst="roundRect">
            <a:avLst>
              <a:gd name="adj" fmla="val 6667"/>
            </a:avLst>
          </a:prstGeom>
          <a:solidFill>
            <a:srgbClr val="EAF7FB"/>
          </a:solidFill>
          <a:ln w="12700">
            <a:solidFill>
              <a:srgbClr val="D6E9EF"/>
            </a:solidFill>
            <a:prstDash val="solid"/>
          </a:ln>
          <a:effectLst>
            <a:outerShdw blurRad="114300" dist="38100" dir="5400000" algn="bl" rotWithShape="0">
              <a:srgbClr val="01293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702552" y="4928616"/>
            <a:ext cx="548640" cy="548640"/>
          </a:xfrm>
          <a:prstGeom prst="ellipse">
            <a:avLst/>
          </a:prstGeom>
          <a:solidFill>
            <a:srgbClr val="012932"/>
          </a:solidFill>
          <a:ln w="12700">
            <a:solidFill>
              <a:srgbClr val="0129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702552" y="49286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424928" y="476402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29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424928" y="518464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1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 bác sĩ, cộng đồng bệnh nhân, câu chuyện người thật.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129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Chỉ số </a:t>
            </a:r>
            <a:r>
              <a:rPr lang="en-US" sz="31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thành</a:t>
            </a: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1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cônG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82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SỐ THEO DÕI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thoát trong 3 giây đầu · tốc độ tải &lt; 2s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xem tín hiệu chính danh (Visible Agent Effect)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sâu tới bằng chứng: nội dung → nguồn (≤ 1 chạm)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 khi người dùng lo lắng · retention theo chủ đề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đổi uy tín → doanh thu (CME, hợp tác, media kit)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5715000"/>
            <a:ext cx="11064240" cy="0"/>
          </a:xfrm>
          <a:prstGeom prst="line">
            <a:avLst/>
          </a:prstGeom>
          <a:noFill/>
          <a:ln w="19050">
            <a:solidFill>
              <a:srgbClr val="037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5897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82E6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CCHC · Thiết kế mobile-first, lấy niềm tin làm trung tâm.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623</TotalTime>
  <Words>1506</Words>
  <Application>Microsoft Office PowerPoint</Application>
  <PresentationFormat>Widescreen</PresentationFormat>
  <Paragraphs>168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CCHC — Thiết kế UI/UX</dc:title>
  <dc:subject>PptxGenJS Presentation</dc:subject>
  <dc:creator>CCHC</dc:creator>
  <cp:lastModifiedBy>Hung Tran</cp:lastModifiedBy>
  <cp:revision>2</cp:revision>
  <dcterms:created xsi:type="dcterms:W3CDTF">2026-07-30T03:51:24Z</dcterms:created>
  <dcterms:modified xsi:type="dcterms:W3CDTF">2026-07-31T02:39:05Z</dcterms:modified>
</cp:coreProperties>
</file>